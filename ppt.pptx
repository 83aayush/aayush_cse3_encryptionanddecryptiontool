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86834D-231A-415B-AE23-9AEC7493518E}" v="2" dt="2025-04-29T12:41:11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ush Aayush" userId="48edea7dbfaa8f1c" providerId="LiveId" clId="{D286834D-231A-415B-AE23-9AEC7493518E}"/>
    <pc:docChg chg="undo custSel modSld">
      <pc:chgData name="Aayush Aayush" userId="48edea7dbfaa8f1c" providerId="LiveId" clId="{D286834D-231A-415B-AE23-9AEC7493518E}" dt="2025-04-29T12:41:19.380" v="149" actId="27636"/>
      <pc:docMkLst>
        <pc:docMk/>
      </pc:docMkLst>
      <pc:sldChg chg="modSp mod">
        <pc:chgData name="Aayush Aayush" userId="48edea7dbfaa8f1c" providerId="LiveId" clId="{D286834D-231A-415B-AE23-9AEC7493518E}" dt="2025-04-29T12:41:19.380" v="149" actId="27636"/>
        <pc:sldMkLst>
          <pc:docMk/>
          <pc:sldMk cId="1522052387" sldId="256"/>
        </pc:sldMkLst>
        <pc:spChg chg="mod">
          <ac:chgData name="Aayush Aayush" userId="48edea7dbfaa8f1c" providerId="LiveId" clId="{D286834D-231A-415B-AE23-9AEC7493518E}" dt="2025-04-29T12:41:19.380" v="149" actId="27636"/>
          <ac:spMkLst>
            <pc:docMk/>
            <pc:sldMk cId="1522052387" sldId="256"/>
            <ac:spMk id="5" creationId="{585903A1-17E9-F49A-DBF7-CA93D7F608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73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09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30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30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78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14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484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680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27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167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753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582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714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23486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6020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228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8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36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9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  <p:sldLayoutId id="2147483860" r:id="rId12"/>
    <p:sldLayoutId id="2147483861" r:id="rId13"/>
    <p:sldLayoutId id="2147483862" r:id="rId14"/>
    <p:sldLayoutId id="2147483863" r:id="rId15"/>
    <p:sldLayoutId id="2147483864" r:id="rId16"/>
    <p:sldLayoutId id="21474838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FF3E997-0213-8397-FED8-EEC2B1E3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80" y="1138673"/>
            <a:ext cx="8596668" cy="2595460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  Text to encrypt and decrypt tool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5903A1-17E9-F49A-DBF7-CA93D7F60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7" y="4719484"/>
            <a:ext cx="9065342" cy="202544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    Name                                   Roll no.</a:t>
            </a:r>
          </a:p>
          <a:p>
            <a:r>
              <a:rPr lang="en-US" sz="2600" dirty="0"/>
              <a:t>Ut</a:t>
            </a:r>
            <a:r>
              <a:rPr lang="en-US" sz="2400" dirty="0"/>
              <a:t>karsh Singh                2401010099                          </a:t>
            </a:r>
          </a:p>
          <a:p>
            <a:r>
              <a:rPr lang="en-US" sz="2400" dirty="0"/>
              <a:t>Aayush                          2401010042</a:t>
            </a:r>
          </a:p>
          <a:p>
            <a:r>
              <a:rPr lang="en-US" sz="2400" dirty="0"/>
              <a:t>Manan Sehgal              2401010043                   </a:t>
            </a:r>
          </a:p>
          <a:p>
            <a:r>
              <a:rPr lang="en-US" dirty="0"/>
              <a:t>                </a:t>
            </a:r>
          </a:p>
          <a:p>
            <a:r>
              <a:rPr lang="en-US" sz="2600" dirty="0"/>
              <a:t>                                       Group ID - Y1-2024-25-G35</a:t>
            </a:r>
            <a:endParaRPr lang="en-IN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519891-C29E-C6DC-7201-D53A8CD29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180" y="1034287"/>
            <a:ext cx="8831816" cy="140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5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159467-3339-3256-DB02-4B937202C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693334"/>
            <a:ext cx="4489176" cy="1256344"/>
          </a:xfrm>
        </p:spPr>
        <p:txBody>
          <a:bodyPr>
            <a:normAutofit/>
          </a:bodyPr>
          <a:lstStyle/>
          <a:p>
            <a:r>
              <a:rPr lang="en-US" dirty="0"/>
              <a:t>Text to encrypt and decrypt tool</a:t>
            </a:r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24D3692-09A6-1DA3-D20E-DD262637BAF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621" r="4621"/>
          <a:stretch/>
        </p:blipFill>
        <p:spPr>
          <a:xfrm>
            <a:off x="6803509" y="1143000"/>
            <a:ext cx="3227193" cy="4572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9BCF95-6D29-952C-E801-DBFFEE6F4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4065" y="3429000"/>
            <a:ext cx="4148927" cy="2399071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rgbClr val="595959"/>
                </a:solidFill>
                <a:effectLst/>
                <a:latin typeface="Trebuchet MS" panose="020B0603020202020204" pitchFamily="34" charset="0"/>
              </a:rPr>
              <a:t>This presentation explores the design, </a:t>
            </a:r>
            <a:endParaRPr lang="en-US" dirty="0"/>
          </a:p>
          <a:p>
            <a:r>
              <a:rPr lang="en-US" sz="1800" dirty="0">
                <a:solidFill>
                  <a:srgbClr val="595959"/>
                </a:solidFill>
                <a:effectLst/>
                <a:latin typeface="Trebuchet MS" panose="020B0603020202020204" pitchFamily="34" charset="0"/>
              </a:rPr>
              <a:t>implementation, and applications of a </a:t>
            </a:r>
            <a:endParaRPr lang="en-US" dirty="0"/>
          </a:p>
          <a:p>
            <a:r>
              <a:rPr lang="en-US" sz="1800" dirty="0">
                <a:solidFill>
                  <a:srgbClr val="595959"/>
                </a:solidFill>
                <a:effectLst/>
                <a:latin typeface="Trebuchet MS" panose="020B0603020202020204" pitchFamily="34" charset="0"/>
              </a:rPr>
              <a:t>Text to Encrypt and Decrypt Tool, a </a:t>
            </a:r>
            <a:endParaRPr lang="en-US" dirty="0"/>
          </a:p>
          <a:p>
            <a:r>
              <a:rPr lang="en-US" sz="1800" dirty="0">
                <a:solidFill>
                  <a:srgbClr val="595959"/>
                </a:solidFill>
                <a:effectLst/>
                <a:latin typeface="Trebuchet MS" panose="020B0603020202020204" pitchFamily="34" charset="0"/>
              </a:rPr>
              <a:t>fundamental component in ensuring data </a:t>
            </a:r>
            <a:endParaRPr lang="en-US" dirty="0"/>
          </a:p>
          <a:p>
            <a:r>
              <a:rPr lang="en-US" sz="1800" dirty="0">
                <a:solidFill>
                  <a:srgbClr val="595959"/>
                </a:solidFill>
                <a:effectLst/>
                <a:latin typeface="Trebuchet MS" panose="020B0603020202020204" pitchFamily="34" charset="0"/>
              </a:rPr>
              <a:t>security, privacy, and integrity in the </a:t>
            </a:r>
            <a:endParaRPr lang="en-US" dirty="0"/>
          </a:p>
          <a:p>
            <a:r>
              <a:rPr lang="en-US" sz="1800" dirty="0">
                <a:solidFill>
                  <a:srgbClr val="595959"/>
                </a:solidFill>
                <a:effectLst/>
                <a:latin typeface="Trebuchet MS" panose="020B0603020202020204" pitchFamily="34" charset="0"/>
              </a:rPr>
              <a:t>digital 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2707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963E6C-C5AE-59EF-AA12-8A85F76F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and goals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8E6E1-FC45-6753-78E6-79EA54C6CB7A}"/>
              </a:ext>
            </a:extLst>
          </p:cNvPr>
          <p:cNvSpPr txBox="1"/>
          <p:nvPr/>
        </p:nvSpPr>
        <p:spPr>
          <a:xfrm>
            <a:off x="639096" y="2415849"/>
            <a:ext cx="1063850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Arial-BoldMT"/>
              </a:rPr>
              <a:t>Data Confidentiality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Protecting sensitive information from unauthorized access by converting plaintext into ciphertext (encrypted </a:t>
            </a:r>
            <a:endParaRPr lang="en-US" dirty="0"/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text). </a:t>
            </a:r>
            <a:endParaRPr lang="en-US" dirty="0"/>
          </a:p>
          <a:p>
            <a:endParaRPr lang="en-US" sz="1600" b="1" dirty="0">
              <a:solidFill>
                <a:srgbClr val="000000"/>
              </a:solidFill>
              <a:effectLst/>
              <a:latin typeface="Arial-BoldMT"/>
            </a:endParaRP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Arial-BoldMT"/>
              </a:rPr>
              <a:t>Data Integrity </a:t>
            </a:r>
            <a:endParaRPr lang="en-US" dirty="0"/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Ensuring that the text has not been altered during transmission or storage. </a:t>
            </a:r>
            <a:endParaRPr lang="en-US" dirty="0"/>
          </a:p>
          <a:p>
            <a:endParaRPr lang="en-US" sz="1600" b="1" dirty="0">
              <a:solidFill>
                <a:srgbClr val="000000"/>
              </a:solidFill>
              <a:effectLst/>
              <a:latin typeface="Arial-BoldMT"/>
            </a:endParaRP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Arial-BoldMT"/>
              </a:rPr>
              <a:t>Authentication </a:t>
            </a:r>
            <a:endParaRPr lang="en-US" dirty="0"/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Verifying the authenticity of the sender, ensuring that the message comes from the expected source and is </a:t>
            </a:r>
            <a:endParaRPr lang="en-US" dirty="0"/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 a forgery</a:t>
            </a: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endParaRPr lang="en-US" dirty="0"/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Arial-BoldMT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effectLst/>
                <a:latin typeface="Arial-BoldMT"/>
              </a:rPr>
              <a:t>Secure Communication </a:t>
            </a:r>
            <a:endParaRPr lang="en-US" dirty="0"/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Allowing users to securely communicate over untrusted channels, protecting messages from being </a:t>
            </a:r>
            <a:endParaRPr lang="en-US" dirty="0"/>
          </a:p>
          <a:p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intercepted or accessed by malicious entities during transmission.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460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5DE71C3-A78F-298C-4FB3-9D454DDB5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87" y="1296365"/>
            <a:ext cx="13831747" cy="530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71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5ABB87-1D2D-28C7-59EE-C74B0656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cryptographic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D96B2-2749-7EA7-ADFA-1F0ED59B26D6}"/>
              </a:ext>
            </a:extLst>
          </p:cNvPr>
          <p:cNvSpPr txBox="1"/>
          <p:nvPr/>
        </p:nvSpPr>
        <p:spPr>
          <a:xfrm>
            <a:off x="176980" y="2760382"/>
            <a:ext cx="3313472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 1</a:t>
            </a:r>
            <a:r>
              <a:rPr lang="en-US" sz="1400" b="1" dirty="0"/>
              <a:t> . AES (Advanced Encryption Standard)</a:t>
            </a:r>
          </a:p>
          <a:p>
            <a:pPr>
              <a:buNone/>
            </a:pPr>
            <a:r>
              <a:rPr lang="en-US" sz="1400" b="1" dirty="0"/>
              <a:t>  </a:t>
            </a:r>
          </a:p>
          <a:p>
            <a:pPr>
              <a:buNone/>
            </a:pPr>
            <a:r>
              <a:rPr lang="en-US" sz="1400" b="1" dirty="0"/>
              <a:t> Purpose:</a:t>
            </a:r>
            <a:r>
              <a:rPr lang="en-US" sz="1400" dirty="0"/>
              <a:t> </a:t>
            </a:r>
            <a:r>
              <a:rPr lang="en-US" sz="1400" i="1" dirty="0"/>
              <a:t>Symmetric encryption </a:t>
            </a:r>
            <a:r>
              <a:rPr lang="en-US" sz="1400" dirty="0"/>
              <a:t> (same key to encrypt and decrypt)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Used for securely encrypting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Used in applications like file encryption, secure messaging, etc.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Key points: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Same key is used for both encryption and decryption.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Common key sizes: </a:t>
            </a:r>
            <a:r>
              <a:rPr lang="en-US" sz="1400" b="1" dirty="0"/>
              <a:t>128-bit</a:t>
            </a:r>
            <a:r>
              <a:rPr lang="en-US" sz="1400" dirty="0"/>
              <a:t>, </a:t>
            </a:r>
            <a:r>
              <a:rPr lang="en-US" sz="1400" b="1" dirty="0"/>
              <a:t>192-bit</a:t>
            </a:r>
            <a:r>
              <a:rPr lang="en-US" sz="1400" dirty="0"/>
              <a:t>, </a:t>
            </a:r>
            <a:r>
              <a:rPr lang="en-US" sz="1400" b="1" dirty="0"/>
              <a:t>256-bit</a:t>
            </a:r>
            <a:r>
              <a:rPr lang="en-US" sz="14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E32749-7511-5E1F-3B0F-624AC825A6DB}"/>
              </a:ext>
            </a:extLst>
          </p:cNvPr>
          <p:cNvSpPr txBox="1"/>
          <p:nvPr/>
        </p:nvSpPr>
        <p:spPr>
          <a:xfrm>
            <a:off x="3913241" y="2729604"/>
            <a:ext cx="3726424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r>
              <a:rPr lang="en-US" sz="2000" b="1" dirty="0"/>
              <a:t>2 </a:t>
            </a:r>
            <a:r>
              <a:rPr lang="en-US" b="1" dirty="0"/>
              <a:t>.  </a:t>
            </a:r>
            <a:r>
              <a:rPr lang="en-US" sz="1400" b="1" dirty="0"/>
              <a:t>RSA (Rivest–Shamir–Adleman)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/>
              <a:t> Purpose:</a:t>
            </a:r>
            <a:r>
              <a:rPr lang="en-US" sz="1400" dirty="0"/>
              <a:t> </a:t>
            </a:r>
            <a:r>
              <a:rPr lang="en-US" sz="1400" i="1" dirty="0"/>
              <a:t>Asymmetric encryption</a:t>
            </a:r>
            <a:r>
              <a:rPr lang="en-US" sz="1400" dirty="0"/>
              <a:t> (public key to encrypt, private key to decrypt)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Slower than AES, but allows secure communication without sharing a secret key first.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Sending a message to a server using the server’s </a:t>
            </a:r>
            <a:r>
              <a:rPr lang="en-US" sz="1400" i="1" dirty="0"/>
              <a:t>public key</a:t>
            </a:r>
            <a:r>
              <a:rPr lang="en-US" sz="1400" dirty="0"/>
              <a:t>, so only the server can read it with its </a:t>
            </a:r>
            <a:r>
              <a:rPr lang="en-US" sz="1400" i="1" dirty="0"/>
              <a:t>private key</a:t>
            </a:r>
            <a:r>
              <a:rPr lang="en-US" sz="1400" dirty="0"/>
              <a:t>.</a:t>
            </a:r>
          </a:p>
          <a:p>
            <a:pPr>
              <a:buNone/>
            </a:pPr>
            <a:r>
              <a:rPr lang="en-US" sz="1400" b="1" dirty="0"/>
              <a:t>  </a:t>
            </a:r>
          </a:p>
          <a:p>
            <a:pPr>
              <a:buNone/>
            </a:pPr>
            <a:r>
              <a:rPr lang="en-US" sz="1400" b="1" dirty="0"/>
              <a:t>Key points: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Used in SSL/TLS, digital signatures, and secure logins.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542530-F520-1E0D-25D3-E10759637D50}"/>
              </a:ext>
            </a:extLst>
          </p:cNvPr>
          <p:cNvSpPr txBox="1"/>
          <p:nvPr/>
        </p:nvSpPr>
        <p:spPr>
          <a:xfrm>
            <a:off x="8219769" y="2637270"/>
            <a:ext cx="35002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3</a:t>
            </a:r>
            <a:r>
              <a:rPr lang="en-US" sz="1400" b="1" dirty="0"/>
              <a:t>. SHA (Secure Hash Algorithm)</a:t>
            </a:r>
          </a:p>
          <a:p>
            <a:pPr>
              <a:buNone/>
            </a:pPr>
            <a:r>
              <a:rPr lang="en-US" sz="1400" b="1" dirty="0"/>
              <a:t>Purpose:</a:t>
            </a:r>
            <a:r>
              <a:rPr lang="en-US" sz="1400" dirty="0"/>
              <a:t> </a:t>
            </a:r>
            <a:r>
              <a:rPr lang="en-US" sz="1400" i="1" dirty="0"/>
              <a:t>Hashing</a:t>
            </a:r>
            <a:r>
              <a:rPr lang="en-US" sz="1400" dirty="0"/>
              <a:t> (one-way transformation)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Converts data into a fixed-size string (hash).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Cannot be reversed (not encryption).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Used for verifying data integrity, passwords, etc.</a:t>
            </a:r>
          </a:p>
          <a:p>
            <a:pPr>
              <a:buNone/>
            </a:pPr>
            <a:r>
              <a:rPr lang="en-US" sz="1400" b="1" dirty="0"/>
              <a:t>Example Use:</a:t>
            </a:r>
            <a:br>
              <a:rPr lang="en-US" sz="1400" dirty="0"/>
            </a:br>
            <a:r>
              <a:rPr lang="en-US" sz="1400" dirty="0"/>
              <a:t>Storing a hashed version of a password so even if your database is leaked, the actual passwords remain secure.</a:t>
            </a:r>
          </a:p>
          <a:p>
            <a:pPr>
              <a:buNone/>
            </a:pPr>
            <a:r>
              <a:rPr lang="en-US" sz="1400" b="1" dirty="0"/>
              <a:t>Key points: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Common versions: </a:t>
            </a:r>
            <a:r>
              <a:rPr lang="en-US" sz="1400" b="1" dirty="0"/>
              <a:t>SHA-256</a:t>
            </a:r>
            <a:r>
              <a:rPr lang="en-US" sz="1400" dirty="0"/>
              <a:t>, </a:t>
            </a:r>
            <a:r>
              <a:rPr lang="en-US" sz="1400" b="1" dirty="0"/>
              <a:t>SHA-512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14948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C80AE-E8A6-15DE-7B5C-F895C03C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873095-293C-0721-0C8F-D8F47B4C4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880" y="2603500"/>
            <a:ext cx="9289733" cy="3416300"/>
          </a:xfrm>
        </p:spPr>
        <p:txBody>
          <a:bodyPr>
            <a:normAutofit fontScale="62500" lnSpcReduction="20000"/>
          </a:bodyPr>
          <a:lstStyle/>
          <a:p>
            <a:r>
              <a:rPr lang="en-IN" sz="1800" b="1" dirty="0">
                <a:solidFill>
                  <a:srgbClr val="000000"/>
                </a:solidFill>
                <a:effectLst/>
                <a:latin typeface="Arial-BoldMT"/>
              </a:rPr>
              <a:t>1. Choosing an Encryption Algorithm </a:t>
            </a:r>
            <a:endParaRPr lang="en-IN" dirty="0"/>
          </a:p>
          <a:p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Select an encryption method (symmetric, asymmetric, or simple ciphers) and choose the appropriate encryption mode. </a:t>
            </a:r>
            <a:endParaRPr lang="en-IN" dirty="0"/>
          </a:p>
          <a:p>
            <a:r>
              <a:rPr lang="en-IN" sz="1800" b="1" dirty="0">
                <a:solidFill>
                  <a:srgbClr val="000000"/>
                </a:solidFill>
                <a:effectLst/>
                <a:latin typeface="Arial-BoldMT"/>
              </a:rPr>
              <a:t>2. Key Management </a:t>
            </a:r>
            <a:endParaRPr lang="en-IN" dirty="0"/>
          </a:p>
          <a:p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Decide whether symmetric or asymmetric encryption will be used, generate keys, and manage their storage and exchange. </a:t>
            </a:r>
            <a:endParaRPr lang="en-IN" dirty="0"/>
          </a:p>
          <a:p>
            <a:r>
              <a:rPr lang="en-IN" sz="1800" b="1" dirty="0">
                <a:solidFill>
                  <a:srgbClr val="000000"/>
                </a:solidFill>
                <a:effectLst/>
                <a:latin typeface="Arial-BoldMT"/>
              </a:rPr>
              <a:t>3. Encryption Process </a:t>
            </a:r>
            <a:endParaRPr lang="en-IN" dirty="0"/>
          </a:p>
          <a:p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Accept plain text input, apply the chosen algorithm and key to encrypt the text, and generate ciphertext. </a:t>
            </a:r>
            <a:endParaRPr lang="en-IN" dirty="0"/>
          </a:p>
          <a:p>
            <a:r>
              <a:rPr lang="en-IN" sz="1800" b="1" dirty="0">
                <a:solidFill>
                  <a:srgbClr val="000000"/>
                </a:solidFill>
                <a:effectLst/>
                <a:latin typeface="Arial-BoldMT"/>
              </a:rPr>
              <a:t>4. Decryption Process </a:t>
            </a:r>
            <a:endParaRPr lang="en-IN" dirty="0"/>
          </a:p>
          <a:p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Accept ciphertext input, apply the chosen algorithm and key to decrypt the text, and generate plaintext. </a:t>
            </a:r>
            <a:endParaRPr lang="en-IN" dirty="0"/>
          </a:p>
          <a:p>
            <a:r>
              <a:rPr lang="en-IN" sz="1800" b="1" dirty="0">
                <a:solidFill>
                  <a:srgbClr val="000000"/>
                </a:solidFill>
                <a:effectLst/>
                <a:latin typeface="Arial-BoldMT"/>
              </a:rPr>
              <a:t>5. Handling Errors and Validations </a:t>
            </a:r>
            <a:endParaRPr lang="en-IN" dirty="0"/>
          </a:p>
          <a:p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Implement error handling mechanisms for incorrect keys, invalid ciphertext, or mismatched encryption/decryption algorithms. </a:t>
            </a:r>
            <a:endParaRPr lang="en-IN" dirty="0"/>
          </a:p>
          <a:p>
            <a:r>
              <a:rPr lang="en-IN" sz="1800" b="1" dirty="0">
                <a:solidFill>
                  <a:srgbClr val="000000"/>
                </a:solidFill>
                <a:effectLst/>
                <a:latin typeface="Arial-BoldMT"/>
              </a:rPr>
              <a:t>6. Security Considerations </a:t>
            </a:r>
            <a:endParaRPr lang="en-IN" dirty="0"/>
          </a:p>
          <a:p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Encrypt keys or store them securely, ensure strong encryption standards are applied, and consider using additional mechanisms like </a:t>
            </a:r>
            <a:endParaRPr lang="en-IN" dirty="0"/>
          </a:p>
          <a:p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hashing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250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8033B-9532-97E4-54F4-F9705EF1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729A-1661-B5DB-3661-6A7BA8B781B0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34721" y="2580640"/>
            <a:ext cx="9573736" cy="4003040"/>
          </a:xfrm>
        </p:spPr>
        <p:txBody>
          <a:bodyPr>
            <a:normAutofit/>
          </a:bodyPr>
          <a:lstStyle/>
          <a:p>
            <a:r>
              <a:rPr lang="en-US" sz="1100" b="1" dirty="0">
                <a:solidFill>
                  <a:srgbClr val="000000"/>
                </a:solidFill>
                <a:effectLst/>
                <a:latin typeface="Arial-BoldMT"/>
              </a:rPr>
              <a:t>Basic Encryption and Decryption 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Design and implement a tool that can encrypt and decrypt text using a symmetric 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encryption algorithm, such as the Caesar cipher or Vigenère cipher. </a:t>
            </a:r>
            <a:endParaRPr lang="en-US" sz="1100" dirty="0"/>
          </a:p>
          <a:p>
            <a:r>
              <a:rPr lang="en-US" sz="1100" b="1" dirty="0">
                <a:solidFill>
                  <a:srgbClr val="000000"/>
                </a:solidFill>
                <a:effectLst/>
                <a:latin typeface="Arial-BoldMT"/>
              </a:rPr>
              <a:t>Secure Message Transmission 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an encryption and decryption tool that allows users to securely transmit 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messages using public key encryption (e.g., RSA). </a:t>
            </a:r>
            <a:endParaRPr lang="en-US" sz="1100" dirty="0"/>
          </a:p>
          <a:p>
            <a:r>
              <a:rPr lang="en-US" sz="1100" b="1" dirty="0">
                <a:solidFill>
                  <a:srgbClr val="000000"/>
                </a:solidFill>
                <a:effectLst/>
                <a:latin typeface="Arial-BoldMT"/>
              </a:rPr>
              <a:t>File Encryption and Decryption 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Build a tool that encrypts and decrypts text files or documents, providing the user with 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ability to select files, apply encryption with a chosen key, and later decrypt 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files to restore their original content.</a:t>
            </a:r>
            <a:endParaRPr lang="en-US" sz="1100" dirty="0"/>
          </a:p>
          <a:p>
            <a:r>
              <a:rPr lang="en-US" sz="1100" b="1" dirty="0">
                <a:solidFill>
                  <a:srgbClr val="000000"/>
                </a:solidFill>
                <a:effectLst/>
                <a:latin typeface="Arial-BoldMT"/>
              </a:rPr>
              <a:t>User Authentication with Encryption 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Develop a tool that encrypts user credentials (username and password) and stores them 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securely using a hashing or encryption method (e.g., AES ).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581515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674C4-6842-5E89-34F6-8295C75F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Applications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C6729-49AD-9933-87C2-4016DCC02FD7}"/>
              </a:ext>
            </a:extLst>
          </p:cNvPr>
          <p:cNvSpPr txBox="1"/>
          <p:nvPr/>
        </p:nvSpPr>
        <p:spPr>
          <a:xfrm>
            <a:off x="701040" y="2635240"/>
            <a:ext cx="98348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Arial-BoldMT"/>
              </a:rPr>
              <a:t>1. Secure Communication</a:t>
            </a:r>
            <a:endParaRPr lang="en-US" sz="32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Protecting sensitive messages in email, instant messaging, and other forms of 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communication. </a:t>
            </a:r>
            <a:endParaRPr lang="en-US" sz="2400" dirty="0"/>
          </a:p>
          <a:p>
            <a:r>
              <a:rPr lang="en-US" sz="2400" b="1" dirty="0">
                <a:solidFill>
                  <a:srgbClr val="000000"/>
                </a:solidFill>
                <a:effectLst/>
                <a:latin typeface="Arial-BoldMT"/>
              </a:rPr>
              <a:t>2. Data Protection in File Storage 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Encrypting files before storing them on a device, cloud, or external storage. </a:t>
            </a:r>
            <a:endParaRPr lang="en-US" sz="2400" dirty="0"/>
          </a:p>
          <a:p>
            <a:r>
              <a:rPr lang="en-US" sz="2400" b="1" dirty="0">
                <a:solidFill>
                  <a:srgbClr val="000000"/>
                </a:solidFill>
                <a:effectLst/>
                <a:latin typeface="Arial-BoldMT"/>
              </a:rPr>
              <a:t>3. Financial and Payment Systems 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Securing online financial transactions and payment details. </a:t>
            </a:r>
            <a:endParaRPr lang="en-US" sz="2400" dirty="0"/>
          </a:p>
          <a:p>
            <a:r>
              <a:rPr lang="en-US" sz="2400" b="1" dirty="0">
                <a:solidFill>
                  <a:srgbClr val="000000"/>
                </a:solidFill>
                <a:effectLst/>
                <a:latin typeface="Arial-BoldMT"/>
              </a:rPr>
              <a:t>4. Secure Password Storage 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Safely storing user credentials and passwords in password managers.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19660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E06C-7AD7-9C4F-DFF9-0DA7A014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Limitations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04075-5E95-13BA-6B35-CA71BB92243E}"/>
              </a:ext>
            </a:extLst>
          </p:cNvPr>
          <p:cNvSpPr txBox="1"/>
          <p:nvPr/>
        </p:nvSpPr>
        <p:spPr>
          <a:xfrm>
            <a:off x="782319" y="2603272"/>
            <a:ext cx="91340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b="1" dirty="0">
                <a:solidFill>
                  <a:srgbClr val="000000"/>
                </a:solidFill>
                <a:effectLst/>
                <a:latin typeface="Arial-BoldMT"/>
              </a:rPr>
              <a:t>Key Management 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Securely storing and managing encryption keys is crucial. 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Compromised keys can lead to data breaches, making key 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management a significant challenge. </a:t>
            </a:r>
            <a:endParaRPr lang="en-US" sz="2400" dirty="0"/>
          </a:p>
          <a:p>
            <a:r>
              <a:rPr lang="en-US" sz="3600" b="1" dirty="0">
                <a:solidFill>
                  <a:srgbClr val="000000"/>
                </a:solidFill>
                <a:effectLst/>
                <a:latin typeface="Arial-BoldMT"/>
              </a:rPr>
              <a:t>.</a:t>
            </a:r>
            <a:endParaRPr lang="en-US" sz="2400" dirty="0"/>
          </a:p>
          <a:p>
            <a:r>
              <a:rPr lang="en-US" sz="2400" b="1" dirty="0">
                <a:solidFill>
                  <a:srgbClr val="000000"/>
                </a:solidFill>
                <a:effectLst/>
                <a:latin typeface="Arial-BoldMT"/>
              </a:rPr>
              <a:t>Algorithm Evolution 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 technology advances, encryption algorithms may become 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vulnerable to attacks. Regularly updating and evolving </a:t>
            </a:r>
            <a:endParaRPr lang="en-US" sz="2400" dirty="0"/>
          </a:p>
          <a:p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encryption methods is essential to maintain security.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1055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9252-A80D-AF27-C5AF-86DA17E02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Conclusion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C6B67-F5FF-8A50-EEE2-36B4786CF6D4}"/>
              </a:ext>
            </a:extLst>
          </p:cNvPr>
          <p:cNvSpPr txBox="1"/>
          <p:nvPr/>
        </p:nvSpPr>
        <p:spPr>
          <a:xfrm>
            <a:off x="934720" y="2878019"/>
            <a:ext cx="92354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A Text to Encrypt and Decrypt Tool is a fundamental </a:t>
            </a:r>
            <a:endParaRPr lang="en-US" sz="2400" dirty="0"/>
          </a:p>
          <a:p>
            <a:r>
              <a:rPr lang="en-US" sz="240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component in ensuring data security, privacy, and </a:t>
            </a:r>
            <a:endParaRPr lang="en-US" sz="2400" dirty="0"/>
          </a:p>
          <a:p>
            <a:r>
              <a:rPr lang="en-US" sz="240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integrity in an increasingly digital world. Its ability to </a:t>
            </a:r>
            <a:endParaRPr lang="en-US" sz="2400" dirty="0"/>
          </a:p>
          <a:p>
            <a:r>
              <a:rPr lang="en-US" sz="240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convert sensitive information into unreadable </a:t>
            </a:r>
            <a:endParaRPr lang="en-US" sz="2400" dirty="0"/>
          </a:p>
          <a:p>
            <a:r>
              <a:rPr lang="en-US" sz="240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ciphertext and restore it to its original form using </a:t>
            </a:r>
            <a:endParaRPr lang="en-US" sz="2400" dirty="0"/>
          </a:p>
          <a:p>
            <a:r>
              <a:rPr lang="en-US" sz="240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decryption is crucial across a variety of fields, </a:t>
            </a:r>
            <a:endParaRPr lang="en-US" sz="2400" dirty="0"/>
          </a:p>
          <a:p>
            <a:r>
              <a:rPr lang="en-US" sz="240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including secure communication, data storage, </a:t>
            </a:r>
            <a:endParaRPr lang="en-US" sz="2400" dirty="0"/>
          </a:p>
          <a:p>
            <a:r>
              <a:rPr lang="en-US" sz="240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financial systems, and compliance with regulatory </a:t>
            </a:r>
            <a:endParaRPr lang="en-US" sz="2400" dirty="0"/>
          </a:p>
          <a:p>
            <a:r>
              <a:rPr lang="en-US" sz="2400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standards.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87893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B9B2A8-BF6D-F4BA-975B-479EDF149621}"/>
              </a:ext>
            </a:extLst>
          </p:cNvPr>
          <p:cNvSpPr txBox="1"/>
          <p:nvPr/>
        </p:nvSpPr>
        <p:spPr>
          <a:xfrm>
            <a:off x="3423920" y="1905506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b="1" dirty="0">
                <a:solidFill>
                  <a:srgbClr val="000000"/>
                </a:solidFill>
                <a:effectLst/>
                <a:latin typeface="Arial-BoldMT"/>
              </a:rPr>
              <a:t>                                 Thanks </a:t>
            </a:r>
            <a:endParaRPr lang="en-IN" sz="96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D9ED9AB-161D-A96B-D03B-7C2E97FC1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6B0F173B-9DCB-B01E-06B4-2B0DD1038E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01E827-DCAE-3F8D-95A8-FA4B88A6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752" y="670560"/>
            <a:ext cx="8831816" cy="123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776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82</TotalTime>
  <Words>859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Arial-BoldMT</vt:lpstr>
      <vt:lpstr>Century Gothic</vt:lpstr>
      <vt:lpstr>Trebuchet MS</vt:lpstr>
      <vt:lpstr>Wingdings 3</vt:lpstr>
      <vt:lpstr>Ion Boardroom</vt:lpstr>
      <vt:lpstr>   Text to encrypt and decrypt tool</vt:lpstr>
      <vt:lpstr>Text to encrypt and decrypt tool</vt:lpstr>
      <vt:lpstr>Objectives and goals </vt:lpstr>
      <vt:lpstr>PowerPoint Presentation</vt:lpstr>
      <vt:lpstr>cryptographic algorithms</vt:lpstr>
      <vt:lpstr>Methodology</vt:lpstr>
      <vt:lpstr>Problem Statements </vt:lpstr>
      <vt:lpstr>         Applications</vt:lpstr>
      <vt:lpstr>Challenges and Limitations</vt:lpstr>
      <vt:lpstr>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Aayush Aayush</dc:creator>
  <cp:lastModifiedBy>Aayush Aayush</cp:lastModifiedBy>
  <cp:revision>3</cp:revision>
  <dcterms:created xsi:type="dcterms:W3CDTF">2025-02-12T13:30:11Z</dcterms:created>
  <dcterms:modified xsi:type="dcterms:W3CDTF">2025-04-29T13:36:19Z</dcterms:modified>
</cp:coreProperties>
</file>